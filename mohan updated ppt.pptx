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sldIdLst>
    <p:sldId id="256" r:id="rId2"/>
    <p:sldId id="259" r:id="rId3"/>
    <p:sldId id="278" r:id="rId4"/>
    <p:sldId id="257" r:id="rId5"/>
    <p:sldId id="269" r:id="rId6"/>
    <p:sldId id="276" r:id="rId7"/>
    <p:sldId id="260" r:id="rId8"/>
    <p:sldId id="261" r:id="rId9"/>
    <p:sldId id="262" r:id="rId10"/>
    <p:sldId id="272" r:id="rId11"/>
    <p:sldId id="277" r:id="rId12"/>
    <p:sldId id="263" r:id="rId13"/>
    <p:sldId id="274" r:id="rId14"/>
    <p:sldId id="275" r:id="rId15"/>
    <p:sldId id="265" r:id="rId16"/>
    <p:sldId id="273" r:id="rId17"/>
    <p:sldId id="267" r:id="rId18"/>
    <p:sldId id="26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0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40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18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7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8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42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23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67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52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02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1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5525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16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46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0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777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74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DD8F3-8449-FA49-810E-F648CBC4EA6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25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UH%20UNIVERSIT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8CF2-0B72-6CDD-8BB6-936815170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8312" y="3565035"/>
            <a:ext cx="7155376" cy="827074"/>
          </a:xfrm>
        </p:spPr>
        <p:txBody>
          <a:bodyPr>
            <a:noAutofit/>
          </a:bodyPr>
          <a:lstStyle/>
          <a:p>
            <a:pPr algn="ctr"/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b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7PAM2002-0509-Data Science Project</a:t>
            </a:r>
            <a:b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10-06-2026</a:t>
            </a:r>
            <a:endParaRPr lang="en-US" sz="1800" b="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30AE-1637-D088-E062-0FA0F1B3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4763" y="5153331"/>
            <a:ext cx="2638657" cy="1324525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Mohan Marthala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24068622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Vid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Irsic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88F01-200A-8EAD-5C1C-1848C259CB73}"/>
              </a:ext>
            </a:extLst>
          </p:cNvPr>
          <p:cNvSpPr txBox="1"/>
          <p:nvPr/>
        </p:nvSpPr>
        <p:spPr>
          <a:xfrm>
            <a:off x="298580" y="6108524"/>
            <a:ext cx="593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https://github.com/Marthalamohan/MSC_PROJECT.git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AC3544-AADC-646D-5B5E-F9FEFDB86DAC}"/>
              </a:ext>
            </a:extLst>
          </p:cNvPr>
          <p:cNvSpPr txBox="1">
            <a:spLocks/>
          </p:cNvSpPr>
          <p:nvPr/>
        </p:nvSpPr>
        <p:spPr>
          <a:xfrm>
            <a:off x="2518312" y="4510804"/>
            <a:ext cx="7155376" cy="591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Consumption Forecasting and Anomaly Detection Using Time-Series Machine Learning Models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C145D9-9B0D-99F0-B8DE-90AAC621B4CA}"/>
              </a:ext>
            </a:extLst>
          </p:cNvPr>
          <p:cNvSpPr txBox="1">
            <a:spLocks/>
          </p:cNvSpPr>
          <p:nvPr/>
        </p:nvSpPr>
        <p:spPr>
          <a:xfrm>
            <a:off x="2518312" y="2763272"/>
            <a:ext cx="7155376" cy="6830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Hertfordshire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Physics, Engineering and Computer Science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69A175B6-DE1A-86B7-7E1D-A94F3D854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660" y="514533"/>
            <a:ext cx="3154680" cy="1996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398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EDB5-C0D6-B783-0D3E-C95F7E89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92" y="264367"/>
            <a:ext cx="10353761" cy="132632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38DF5A-B86F-AC6E-BD45-D97D8814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019" y="1690688"/>
            <a:ext cx="1027270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Household electricity consumption shows complex temporal patterns influenced by daily routines and seasonal changes.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energy forecasting can help improve energy management and efficiency.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abnormal consumption patterns is important for identifying unusual energy usage and potential system issues.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time-series models provide powerful tools to forecast energy consumption and detect anomalies automatically.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FEE49-B346-7EEC-8463-A5FC6E7D8FA9}"/>
              </a:ext>
            </a:extLst>
          </p:cNvPr>
          <p:cNvSpPr txBox="1"/>
          <p:nvPr/>
        </p:nvSpPr>
        <p:spPr>
          <a:xfrm>
            <a:off x="952019" y="4542302"/>
            <a:ext cx="103132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accurately can household electricity consumption be predicted using time-series models, and can machine learning methods automatically detect abnormal energy usage patterns?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88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867102" y="448461"/>
            <a:ext cx="1045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591768"/>
            <a:ext cx="10457793" cy="4613089"/>
          </a:xfrm>
        </p:spPr>
        <p:txBody>
          <a:bodyPr numCol="1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develops machine learning models to forecast household electricity consumption using time-series data.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three forecasting models such are RandomForest, XGBoost, and Prophet.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models using RMSE and MAE metrics to measure prediction accuracy.</a:t>
            </a:r>
          </a:p>
          <a:p>
            <a:pPr algn="just"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forecasting, the project also aim to implement anomaly detection techniques to identify unusual energy consumption patterns.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5927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77EC-2432-6E86-E0A9-8921AF33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405188" cy="95794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if previous work related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FA0E-011E-1AFF-D9EB-8F26BC2C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Energy Forecasting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research shows that deep learning models such as LSTM and CNN can effectively forecast household electricity consumption by capturing temporal patterns in energy data (Cascone et al., 2023).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Time-Series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time-series methods such as ARIMA and Auto-ARIMA have been widely used to analyze historical energy consumption data and predict future electricity demand (Ahmed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Khamees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2025).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Machine Learning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deep learning architectures combining multiple neural network layers have been proposed to improve prediction accuracy in smart building energy forecasting (Syed et al., 2021).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 Foundations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methods model trends, seasonality, and irregular components of data to support accurate forecasting in many domains including energy systems (Adhikari &amp; Agrawal, 2013).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273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867102" y="448461"/>
            <a:ext cx="1045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YOU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927670"/>
            <a:ext cx="10457793" cy="4613089"/>
          </a:xfrm>
        </p:spPr>
        <p:txBody>
          <a:bodyPr numCol="1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machine learning models to forecast household electricity consumption using time-series data.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forecasting models are implemented: RandomForest, XGBoost, and Prophet.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using RMSE and MAE metrics to measure prediction accuracy.</a:t>
            </a:r>
          </a:p>
          <a:p>
            <a:pPr algn="just"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forecasting, the project applies anomaly detection techniques to identify unusual energy consumption patterns.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208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34D0-0468-ADF5-A324-9A353B2A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914427-6011-A3EC-969D-487C280F7822}"/>
              </a:ext>
            </a:extLst>
          </p:cNvPr>
          <p:cNvSpPr txBox="1"/>
          <p:nvPr/>
        </p:nvSpPr>
        <p:spPr>
          <a:xfrm>
            <a:off x="867102" y="448461"/>
            <a:ext cx="10457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COMPARE TO THE PREVIOUS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AD7E-92EC-37C8-0512-DC1AE1CB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927670"/>
            <a:ext cx="10457793" cy="4613089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Previous Work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mainly focus on deep learning or statistical forecasting models for energy prediction (Cascone et al., 2023; Ahmed &amp; Khamees, 2025).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works focus only on forecasting accuracy, without analyzing abnormal energy usage.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forecasting and anomaly detection, providing a more complete analysis of energy consumption behavior.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also compares multiple machine learning models to determine the most effective forecasting approach.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03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26B6-E9B0-D5A2-8124-A745128F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53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B480-6BF8-A786-A20B-4038D908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9029"/>
            <a:ext cx="10515601" cy="5075853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the Individual Household Electric Power Consumption Dataset.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measurements of electricity consumption collected from a single household in France.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format: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(.txt file with semicolon-separated values)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Tabular time-series data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include: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Active Power, Global Reactive Power, Voltage, Global Intensity, Sub-metering values and Date and Time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2 million measurements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December 2006 – November 2010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One-minute intervals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127 MB</a:t>
            </a:r>
          </a:p>
        </p:txBody>
      </p:sp>
    </p:spTree>
    <p:extLst>
      <p:ext uri="{BB962C8B-B14F-4D97-AF65-F5344CB8AC3E}">
        <p14:creationId xmlns:p14="http://schemas.microsoft.com/office/powerpoint/2010/main" val="3479996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B7A5-99E8-F2EE-7A81-A8EE2816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5" y="263680"/>
            <a:ext cx="10353761" cy="11825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76F5-A5DE-37A7-D774-E7635FDC0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188572"/>
            <a:ext cx="10353762" cy="54057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household electricity consumption data, which may reveal patterns of daily activities.</a:t>
            </a:r>
          </a:p>
          <a:p>
            <a:pPr algn="just"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user privacy is important when working with energy consumption data.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Anonymization</a:t>
            </a:r>
          </a:p>
          <a:p>
            <a:pPr algn="just"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publicly available and anonymized, meaning no personal or identifiable information is included.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 of Data</a:t>
            </a:r>
          </a:p>
          <a:p>
            <a:pPr algn="just"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data should only be used for research, forecasting, and improving energy efficiency, not for monitoring individual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Transparent Analysis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should be transparent and interpretable to ensure reliable and fair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281702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2050" name="Picture 2" descr="Exploratory analysis of “Individual household electric power consumption” (Time  Series) | by Ahmed Othmen | Medium">
            <a:extLst>
              <a:ext uri="{FF2B5EF4-FFF2-40B4-BE49-F238E27FC236}">
                <a16:creationId xmlns:a16="http://schemas.microsoft.com/office/drawing/2014/main" id="{7BA744EA-9F64-BE97-1517-268011A1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6824"/>
            <a:ext cx="6466626" cy="36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pike by spike frequency analysis of amperometry traces provides  statistical validation of observations in the time domain | Scientific  Reports">
            <a:extLst>
              <a:ext uri="{FF2B5EF4-FFF2-40B4-BE49-F238E27FC236}">
                <a16:creationId xmlns:a16="http://schemas.microsoft.com/office/drawing/2014/main" id="{0E7AB31B-3992-E8F1-FFD7-C8DDD4446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229" y="1486146"/>
            <a:ext cx="4256053" cy="388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701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56CD-C6DF-BD12-23B4-2430C120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0B79-5CAF-3A0F-EF98-9A04354D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2295331"/>
          </a:xfrm>
        </p:spPr>
        <p:txBody>
          <a:bodyPr numCol="1"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consumption varies significantly over time.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high spikes in energy usage are visible.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power consumption is right-skewed, meaning most values are low with occasional high usage.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power consumption reaches around 6 kW.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06C75-477C-2C20-3E35-20991611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32245"/>
            <a:ext cx="3799114" cy="2603242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2481EF7-61EF-ECEA-BD4D-8614DA214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59" y="3732245"/>
            <a:ext cx="6641841" cy="189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2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310D-F1B6-EB92-CEC6-3B9D5B85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D1EC-0545-16C4-2269-D3BC33E1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78F98D-6CC2-B51D-6A88-85CD970E0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59" y="1043316"/>
            <a:ext cx="11331388" cy="558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18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D931-EA22-F2EA-E147-9DE9EDB0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49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3401CF-22C8-11E2-B323-C5D02E33A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8212" y="644997"/>
            <a:ext cx="10671081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were identified and removed to improve data quality.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 Conversion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variables were converted into appropriate numeric formats for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Index Creation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and Time fields were combined to create a datetime index for time-series modelling.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Resampling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data was recorded at one-minute intervals.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was resampled to hourly intervals to reduce noise and improve computational efficiency.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features: Hour of Day, Day of Week.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 features: Previous consumption values (Lag1, Lag24).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statistics: 24-hour rolling mean.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Intensity was excluded from the forecasting models due to its near-perfect correlation with Global Active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703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BF8F-9CFD-1D1E-B6FB-AB39E933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DE84-59F8-D2E1-0E3A-84B414420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278"/>
            <a:ext cx="10515600" cy="48426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is an ensemble machine learning algorithm based on decision trees.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multiple decision trees and combines their predictions to improve accuracy.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overfitting and improves model stability.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predicting electricity consumption using historical features.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is a gradient boosting algorithm that builds trees sequentially.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tree learns from the errors of previous trees.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known for high prediction accuracy and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improving prediction performance for time-series data.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521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557F-9681-D27B-7BA2-59865CC6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8BB1-5F4B-F5E2-689D-4031A6AA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C1E2A-759A-7061-BC45-AFAEEAF22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278"/>
            <a:ext cx="10515600" cy="2733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is a time-series forecasting model developed by Facebook.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models trend, seasonality, and holiday effects in time-series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particularly useful for data with strong seasonal patterns.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forecasting electricity consumption trends.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387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C5C3-2414-5239-C9FC-9C3F106E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93" y="438538"/>
            <a:ext cx="9787814" cy="8304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C307-E670-3609-77FB-0B7BC546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068" y="1630283"/>
            <a:ext cx="10282336" cy="1716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forecasting models were evaluated using the following metrics: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 Error)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prediction error magnitude.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average difference between predicted and actual values.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FF7C4B-5A92-2982-A386-B522C3429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73858"/>
              </p:ext>
            </p:extLst>
          </p:nvPr>
        </p:nvGraphicFramePr>
        <p:xfrm>
          <a:off x="905068" y="3510886"/>
          <a:ext cx="9688287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29429">
                  <a:extLst>
                    <a:ext uri="{9D8B030D-6E8A-4147-A177-3AD203B41FA5}">
                      <a16:colId xmlns:a16="http://schemas.microsoft.com/office/drawing/2014/main" val="3676469369"/>
                    </a:ext>
                  </a:extLst>
                </a:gridCol>
                <a:gridCol w="3229429">
                  <a:extLst>
                    <a:ext uri="{9D8B030D-6E8A-4147-A177-3AD203B41FA5}">
                      <a16:colId xmlns:a16="http://schemas.microsoft.com/office/drawing/2014/main" val="1390193104"/>
                    </a:ext>
                  </a:extLst>
                </a:gridCol>
                <a:gridCol w="3229429">
                  <a:extLst>
                    <a:ext uri="{9D8B030D-6E8A-4147-A177-3AD203B41FA5}">
                      <a16:colId xmlns:a16="http://schemas.microsoft.com/office/drawing/2014/main" val="2552161946"/>
                    </a:ext>
                  </a:extLst>
                </a:gridCol>
              </a:tblGrid>
              <a:tr h="345043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4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3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3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0.4791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512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272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6D5B6C-5648-77B8-9044-726EB0BE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5" y="425362"/>
            <a:ext cx="10282335" cy="97971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68F77F-1FEF-BA47-950F-82AACA39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376" y="1483568"/>
            <a:ext cx="9543659" cy="1264758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achieved the best performance.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also performed well.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captured seasonal trends but produced higher error.</a:t>
            </a:r>
          </a:p>
          <a:p>
            <a:endParaRPr lang="en-US" sz="16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CD2781B-EC62-A2B0-53A2-05A36377F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7" y="2836506"/>
            <a:ext cx="8892073" cy="175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F2A7D0E-1E1F-0B0F-F73E-F1F5B603B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6" y="4669512"/>
            <a:ext cx="8892073" cy="175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022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5DC4-F847-332E-C4F3-91030FB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2" cy="97348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7E48E2-1E70-23F3-4A99-2A22F54FE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266377"/>
            <a:ext cx="10394576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the Results Satisfactory?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All forecasting models successfully captured the overall electricity consumption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XGBoost achieved the best forecasting performance (RMSE = 0.2433, MAE = 0.1578).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Random Forest produced very similar results (RMSE = 0.2458, MAE = 0.1606).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Prediction plots show that the machine learning models closely follow actual consumption trends.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Performance Good for This Task?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Forecasting performance was evaluated using RMSE and MAE.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low error values obtained by XGBoost and Random Forest indicate strong predictive capability.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Prophet effectively modelled trend and seasonality but produced higher forecasting errors.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Sudden consumption spikes remain challenging to predict accurately.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Hyperparameter tuning was only applied to the Random Forest model.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External factors such as weather and occupancy data were not included.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Extend hyperparameter tuning to all forecasting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Investigate deep learning approaches such as LSTM, GRU, and Transformer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Incorporate external variables such as weather conditions and occupancy information.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Evaluate the framework using larger and more diverse energy datasets.</a:t>
            </a:r>
          </a:p>
        </p:txBody>
      </p:sp>
    </p:spTree>
    <p:extLst>
      <p:ext uri="{BB962C8B-B14F-4D97-AF65-F5344CB8AC3E}">
        <p14:creationId xmlns:p14="http://schemas.microsoft.com/office/powerpoint/2010/main" val="2407374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652F-2791-3A9E-7A2B-127F425E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4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536B-1F7B-EE15-2818-17A22AC4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898"/>
            <a:ext cx="10515600" cy="4684065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E68029-8A59-FB96-FDDA-FCC5393EF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64" y="1254732"/>
            <a:ext cx="11824447" cy="552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Summary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Developed a framework for household electricity consumption forecasting and anomaly detection using time-series machine learning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Implemented and evaluated Random Forest, XGBoost, and Prophet using hourly household energy consumption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Applied feature engineering techniques including temporal, lag, and rolling-window features to improve forecasting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Evaluated model performance using RMSE and MAE metrics.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Results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XGBoost achieved the best forecasting performance (RMSE = 0.2433, MAE = 0.1578).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Random Forest produced comparable results (RMSE = 0.2458, MAE = 0.1606).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Prophet effectively modelled trend and seasonality but produced higher forecasting errors.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Rolling Z-Score, Isolation Forest, and Prophet Residual Analysis successfully detected abnormal consumption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Forecasting models provided the baseline required for effective anomaly detection.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Extend hyperparameter tuning to all forecasting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Investigate deep learning approaches such as LSTM, GRU, and Transformer-based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Incorporate external variables such as weather and occupancy information.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Evaluate the framework using larger and more diverse energy datasets.</a:t>
            </a:r>
          </a:p>
        </p:txBody>
      </p:sp>
    </p:spTree>
    <p:extLst>
      <p:ext uri="{BB962C8B-B14F-4D97-AF65-F5344CB8AC3E}">
        <p14:creationId xmlns:p14="http://schemas.microsoft.com/office/powerpoint/2010/main" val="11207748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67BA-D7A0-6BD8-994C-ACB6704C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4B54-E4C5-1D63-D7ED-669D8245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Adhikari, R. &amp; Agrawal, R., 2013.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Introductory Study on Time Series Modeling and Forecasting.”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Ahmed, H.A. &amp; Khamees, M., 2025.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Energy Consumption Using Time Series Models: A Comparison of Naïve, ARIMA, and Auto-ARIMA Approaches.”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International Conference on Applied Innovations in IT.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Cascone, L., Sadiq, S., Ullah,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Mirjalili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Siddiqui, H.U.R. &amp; Umer, M., 2023.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Household Electric Power Consumption Using Multi-step Time Series with Convolutional LSTM.”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 Research.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Syed, D., Abu-Rub,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Ghrayeb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&amp; Refaat, S., 2021.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Household-Level Energy Forecasting in Smart Buildings Using a Novel Hybrid Deep Learning Model.”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Access.</a:t>
            </a:r>
          </a:p>
        </p:txBody>
      </p:sp>
    </p:spTree>
    <p:extLst>
      <p:ext uri="{BB962C8B-B14F-4D97-AF65-F5344CB8AC3E}">
        <p14:creationId xmlns:p14="http://schemas.microsoft.com/office/powerpoint/2010/main" val="1255711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2008</TotalTime>
  <Words>1634</Words>
  <Application>Microsoft Office PowerPoint</Application>
  <PresentationFormat>Widescreen</PresentationFormat>
  <Paragraphs>180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Bookman Old Style</vt:lpstr>
      <vt:lpstr>Rockwell</vt:lpstr>
      <vt:lpstr>Times New Roman</vt:lpstr>
      <vt:lpstr>Damask</vt:lpstr>
      <vt:lpstr>Demonstration 7PAM2002-0509-Data Science Project 10-06-2026</vt:lpstr>
      <vt:lpstr>Introduction</vt:lpstr>
      <vt:lpstr>PowerPoint Presentation</vt:lpstr>
      <vt:lpstr>Overview if previous work related to the project</vt:lpstr>
      <vt:lpstr>PowerPoint Presentation</vt:lpstr>
      <vt:lpstr>PowerPoint Presentation</vt:lpstr>
      <vt:lpstr>Dataset</vt:lpstr>
      <vt:lpstr>Ethical implications </vt:lpstr>
      <vt:lpstr>Exploratory Data Analysis(EDA)</vt:lpstr>
      <vt:lpstr>Key Observations</vt:lpstr>
      <vt:lpstr>Correlation heatmap</vt:lpstr>
      <vt:lpstr>Pre-processing</vt:lpstr>
      <vt:lpstr>Models Used</vt:lpstr>
      <vt:lpstr>Models Used</vt:lpstr>
      <vt:lpstr>Model result</vt:lpstr>
      <vt:lpstr>Overview</vt:lpstr>
      <vt:lpstr>Analysis</vt:lpstr>
      <vt:lpstr>Summary and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Marthala [Student-PECS]</dc:creator>
  <cp:lastModifiedBy>Mohan Marthala [Student-PECS]</cp:lastModifiedBy>
  <cp:revision>38</cp:revision>
  <dcterms:created xsi:type="dcterms:W3CDTF">2025-11-12T13:13:26Z</dcterms:created>
  <dcterms:modified xsi:type="dcterms:W3CDTF">2026-06-09T21:57:19Z</dcterms:modified>
</cp:coreProperties>
</file>