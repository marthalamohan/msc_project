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9" r:id="rId1"/>
  </p:sldMasterIdLst>
  <p:sldIdLst>
    <p:sldId id="256" r:id="rId2"/>
    <p:sldId id="259" r:id="rId3"/>
    <p:sldId id="278" r:id="rId4"/>
    <p:sldId id="257" r:id="rId5"/>
    <p:sldId id="269" r:id="rId6"/>
    <p:sldId id="276" r:id="rId7"/>
    <p:sldId id="260" r:id="rId8"/>
    <p:sldId id="261" r:id="rId9"/>
    <p:sldId id="262" r:id="rId10"/>
    <p:sldId id="272" r:id="rId11"/>
    <p:sldId id="277" r:id="rId12"/>
    <p:sldId id="263" r:id="rId13"/>
    <p:sldId id="274" r:id="rId14"/>
    <p:sldId id="275" r:id="rId15"/>
    <p:sldId id="265" r:id="rId16"/>
    <p:sldId id="273" r:id="rId17"/>
    <p:sldId id="267" r:id="rId18"/>
    <p:sldId id="268" r:id="rId19"/>
    <p:sldId id="25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94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87034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24070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61825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3971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285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64218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42328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7672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9529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5026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5156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055252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61605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9466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2504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777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740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CDD8F3-8449-FA49-810E-F648CBC4EA6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ADDE5-AC0B-2848-A1EF-445A16A985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9259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UH%20UNIVERSITY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8CF2-0B72-6CDD-8BB6-9368151708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8312" y="3565035"/>
            <a:ext cx="7155376" cy="827074"/>
          </a:xfrm>
        </p:spPr>
        <p:txBody>
          <a:bodyPr>
            <a:noAutofit/>
          </a:bodyPr>
          <a:lstStyle/>
          <a:p>
            <a:pPr algn="ctr"/>
            <a:r>
              <a:rPr lang="en-GB" sz="1800" b="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Demonstration</a:t>
            </a:r>
            <a:br>
              <a:rPr lang="en-GB" sz="1800" b="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800" b="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7PAM2002-0509-Data </a:t>
            </a:r>
            <a:r>
              <a:rPr lang="en-GB" sz="1800" b="0" cap="none">
                <a:latin typeface="Times New Roman" panose="02020603050405020304" pitchFamily="18" charset="0"/>
                <a:cs typeface="Times New Roman" panose="02020603050405020304" pitchFamily="18" charset="0"/>
              </a:rPr>
              <a:t>Science Project</a:t>
            </a:r>
            <a:br>
              <a:rPr lang="en-GB" sz="1800" b="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800" b="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27-03-2026</a:t>
            </a:r>
            <a:endParaRPr lang="en-US" sz="1800" b="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6330AE-1637-D088-E062-0FA0F1B3D3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54763" y="5153331"/>
            <a:ext cx="2638657" cy="1324525"/>
          </a:xfrm>
        </p:spPr>
        <p:txBody>
          <a:bodyPr>
            <a:normAutofit/>
          </a:bodyPr>
          <a:lstStyle/>
          <a:p>
            <a:pPr algn="l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Mohan Marthala</a:t>
            </a:r>
          </a:p>
          <a:p>
            <a:pPr algn="l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Id: 24068622</a:t>
            </a:r>
          </a:p>
          <a:p>
            <a:pPr algn="l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Supervisor: Vid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Irsic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988F01-200A-8EAD-5C1C-1848C259CB73}"/>
              </a:ext>
            </a:extLst>
          </p:cNvPr>
          <p:cNvSpPr txBox="1"/>
          <p:nvPr/>
        </p:nvSpPr>
        <p:spPr>
          <a:xfrm>
            <a:off x="298580" y="6108524"/>
            <a:ext cx="59342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https://github.com/Marthalamohan/MSC_PROJECT.git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4AC3544-AADC-646D-5B5E-F9FEFDB86DAC}"/>
              </a:ext>
            </a:extLst>
          </p:cNvPr>
          <p:cNvSpPr txBox="1">
            <a:spLocks/>
          </p:cNvSpPr>
          <p:nvPr/>
        </p:nvSpPr>
        <p:spPr>
          <a:xfrm>
            <a:off x="2518312" y="4510804"/>
            <a:ext cx="7155376" cy="59130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Energy Consumption Forecasting and Anomaly Detection Using Time-Series Machine Learning Models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C145D9-9B0D-99F0-B8DE-90AAC621B4CA}"/>
              </a:ext>
            </a:extLst>
          </p:cNvPr>
          <p:cNvSpPr txBox="1">
            <a:spLocks/>
          </p:cNvSpPr>
          <p:nvPr/>
        </p:nvSpPr>
        <p:spPr>
          <a:xfrm>
            <a:off x="2518312" y="2763272"/>
            <a:ext cx="7155376" cy="68306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Hertfordshire</a:t>
            </a:r>
          </a:p>
          <a:p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Physics, Engineering and Computer Science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69A175B6-DE1A-86B7-7E1D-A94F3D854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8660" y="514533"/>
            <a:ext cx="3154680" cy="19964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43988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2EDB5-C0D6-B783-0D3E-C95F7E89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492" y="264367"/>
            <a:ext cx="10353761" cy="1326321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D38DF5A-B86F-AC6E-BD45-D97D88146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019" y="1690688"/>
            <a:ext cx="10272708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Household electricity consumption shows complex temporal patterns influenced by daily routines and seasonal changes.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Accurate energy forecasting can help improve energy management and efficiency.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Detecting abnormal consumption patterns is important for identifying unusual energy usage and potential system issues.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and time-series models provide powerful tools to forecast energy consumption and detect anomalies automatically.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3FEE49-B346-7EEC-8463-A5FC6E7D8FA9}"/>
              </a:ext>
            </a:extLst>
          </p:cNvPr>
          <p:cNvSpPr txBox="1"/>
          <p:nvPr/>
        </p:nvSpPr>
        <p:spPr>
          <a:xfrm>
            <a:off x="952019" y="4542302"/>
            <a:ext cx="961566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Question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accurately can household electricity consumption be predicted using time-series models, and can machine learning methods automatically detect abnormal energy usage patterns?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1883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437D5-4B83-58A3-ACEB-F12F62282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78BFA-3CB8-9029-E442-A5996C445770}"/>
              </a:ext>
            </a:extLst>
          </p:cNvPr>
          <p:cNvSpPr txBox="1"/>
          <p:nvPr/>
        </p:nvSpPr>
        <p:spPr>
          <a:xfrm>
            <a:off x="867102" y="448461"/>
            <a:ext cx="104577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B0CD2-890F-304E-0BD2-78DAB97D7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102" y="1591768"/>
            <a:ext cx="10457793" cy="4613089"/>
          </a:xfrm>
        </p:spPr>
        <p:txBody>
          <a:bodyPr numCol="1">
            <a:no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develops machine learning models to forecast household electricity consumption using time-series data.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three forecasting models such are RandomForest, XGBoost, and Prophet.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models using RMSE and MAE metrics to measure prediction accuracy.</a:t>
            </a:r>
          </a:p>
          <a:p>
            <a:pPr>
              <a:spcAft>
                <a:spcPts val="120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forecasting, the project also aim to implement anomaly detection techniques to identify unusual energy consumption patterns.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59274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77EC-2432-6E86-E0A9-8921AF332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10405188" cy="957943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if previous work related to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9FA0E-011E-1AFF-D9EB-8F26BC2C6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numCol="2"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for Energy Forecasting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research shows that deep learning models such as LSTM and CNN can effectively forecast household electricity consumption by capturing temporal patterns in energy data (Cascone et al., 2023).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Time-Series Models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time-series methods such as ARIMA and Auto-ARIMA have been widely used to analyze historical energy consumption data and predict future electricity demand (Ahmed &amp;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Khamees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2025).</a:t>
            </a: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Machine Learning Models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deep learning architectures combining multiple neural network layers have been proposed to improve prediction accuracy in smart building energy forecasting (Syed et al., 2021).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Time-Series Forecasting Foundations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Time-series analysis methods model trends, seasonality, and irregular components of data to support accurate forecasting in many domains including energy systems (Adhikari &amp; Agrawal, 2013).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5273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437D5-4B83-58A3-ACEB-F12F62282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78BFA-3CB8-9029-E442-A5996C445770}"/>
              </a:ext>
            </a:extLst>
          </p:cNvPr>
          <p:cNvSpPr txBox="1"/>
          <p:nvPr/>
        </p:nvSpPr>
        <p:spPr>
          <a:xfrm>
            <a:off x="867102" y="448461"/>
            <a:ext cx="104577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WILL YOU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B0CD2-890F-304E-0BD2-78DAB97D7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102" y="1927670"/>
            <a:ext cx="10457793" cy="4613089"/>
          </a:xfrm>
        </p:spPr>
        <p:txBody>
          <a:bodyPr numCol="1">
            <a:no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machine learning models to forecast household electricity consumption using time-series data.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forecasting models are implemented: RandomForest, XGBoost, and Prophet.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models are evaluated using RMSE and MAE metrics to measure prediction accuracy.</a:t>
            </a:r>
          </a:p>
          <a:p>
            <a:pPr>
              <a:spcAft>
                <a:spcPts val="120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forecasting, the project applies anomaly detection techniques to identify unusual energy consumption patterns.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20883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234D0-0468-ADF5-A324-9A353B2A6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14427-6011-A3EC-969D-487C280F7822}"/>
              </a:ext>
            </a:extLst>
          </p:cNvPr>
          <p:cNvSpPr txBox="1"/>
          <p:nvPr/>
        </p:nvSpPr>
        <p:spPr>
          <a:xfrm>
            <a:off x="867102" y="448461"/>
            <a:ext cx="1045779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DOES IT COMPARE TO THE PREVIOUS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EAD7E-92EC-37C8-0512-DC1AE1CBB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102" y="1927670"/>
            <a:ext cx="10457793" cy="4613089"/>
          </a:xfrm>
        </p:spPr>
        <p:txBody>
          <a:bodyPr numCol="1"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Previous Work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studies mainly focus on deep learning or statistical forecasting models for energy prediction (Cascone et al., 2023; Ahmed &amp; Khamees, 2025).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works focus only on forecasting accuracy, without analyzing abnormal energy usage.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combines forecasting and anomaly detection, providing a more complete analysis of energy consumption behavior.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study also compares multiple machine learning models to determine the most effective forecasting approach.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30308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426B6-E9B0-D5A2-8124-A745128F6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2539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9B480-6BF8-A786-A20B-4038D908F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89029"/>
            <a:ext cx="10515601" cy="5075853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used in this project is the Individual Household Electric Power Consumption Dataset.</a:t>
            </a:r>
          </a:p>
          <a:p>
            <a:pPr>
              <a:spcAft>
                <a:spcPts val="120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contains measurements of electricity consumption collected from a single household in France.</a:t>
            </a:r>
          </a:p>
          <a:p>
            <a:pPr marL="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of Data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format: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Text (.txt file with semicolon-separated values)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type: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Tabular time-series data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 include: 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 Active Power, Global Reactive Power, Voltage, Global Intensity, Sub-metering values and Date and Time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Size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records: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Approximately 2 million measurements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period: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December 2006 – November 2010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frequency: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One-minute intervals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size: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Approximately 127 MB</a:t>
            </a:r>
          </a:p>
        </p:txBody>
      </p:sp>
    </p:spTree>
    <p:extLst>
      <p:ext uri="{BB962C8B-B14F-4D97-AF65-F5344CB8AC3E}">
        <p14:creationId xmlns:p14="http://schemas.microsoft.com/office/powerpoint/2010/main" val="347999683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B7A5-99E8-F2EE-7A81-A8EE28168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445" y="263680"/>
            <a:ext cx="10353761" cy="1182565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Ethical implications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276F5-A5DE-37A7-D774-E7635FDC0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188572"/>
            <a:ext cx="10353762" cy="54057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Privacy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household electricity consumption data, which may reveal patterns of daily activities.</a:t>
            </a:r>
          </a:p>
          <a:p>
            <a:pPr>
              <a:spcAft>
                <a:spcPts val="120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Protecting user privacy is important when working with energy consumption data.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Anonymization</a:t>
            </a:r>
          </a:p>
          <a:p>
            <a:pPr>
              <a:spcAft>
                <a:spcPts val="120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used in this project is publicly available and anonymized, meaning no personal or identifiable information is included.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Responsible Use of Data</a:t>
            </a:r>
          </a:p>
          <a:p>
            <a:pPr>
              <a:spcAft>
                <a:spcPts val="120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consumption data should only be used for research, forecasting, and improving energy efficiency, not for monitoring individual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behaviour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Fair and Transparent Analysis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 should be transparent and interpretable to ensure reliable and fair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7281702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66E21-1C4B-CB0C-E320-283EF711D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0491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Analysis(EDA)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8CE3E-C7FD-386F-3446-AC5D4C07C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2050" name="Picture 2" descr="Exploratory analysis of “Individual household electric power consumption” (Time  Series) | by Ahmed Othmen | Medium">
            <a:extLst>
              <a:ext uri="{FF2B5EF4-FFF2-40B4-BE49-F238E27FC236}">
                <a16:creationId xmlns:a16="http://schemas.microsoft.com/office/drawing/2014/main" id="{7BA744EA-9F64-BE97-1517-268011A12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96824"/>
            <a:ext cx="6466626" cy="3664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pike by spike frequency analysis of amperometry traces provides  statistical validation of observations in the time domain | Scientific  Reports">
            <a:extLst>
              <a:ext uri="{FF2B5EF4-FFF2-40B4-BE49-F238E27FC236}">
                <a16:creationId xmlns:a16="http://schemas.microsoft.com/office/drawing/2014/main" id="{0E7AB31B-3992-E8F1-FFD7-C8DDD44464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1229" y="1486146"/>
            <a:ext cx="4256053" cy="3885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37017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D56CD-C6DF-BD12-23B4-2430C1209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0491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90B79-5CAF-3A0F-EF98-9A04354D58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2295331"/>
          </a:xfrm>
        </p:spPr>
        <p:txBody>
          <a:bodyPr numCol="1">
            <a:no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Electricity consumption varies significantly over time.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Several high spikes in energy usage are visible.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distribution of power consumption is right-skewed, meaning most values are low with occasional high usage.</a:t>
            </a:r>
          </a:p>
          <a:p>
            <a:pPr>
              <a:spcAft>
                <a:spcPts val="120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power consumption reaches around 6 kW.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306C75-477C-2C20-3E35-209916116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732245"/>
            <a:ext cx="3799114" cy="2603242"/>
          </a:xfrm>
          <a:prstGeom prst="rect">
            <a:avLst/>
          </a:prstGeom>
        </p:spPr>
      </p:pic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2481EF7-61EF-ECEA-BD4D-8614DA214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959" y="3732245"/>
            <a:ext cx="6641841" cy="1895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6226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5310D-F1B6-EB92-CEC6-3B9D5B85C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3D1EC-0545-16C4-2269-D3BC33E1B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0491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heatmap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CBFADA-47BB-6E76-8EF9-E2B84AE47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15616"/>
            <a:ext cx="10515600" cy="5027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18092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D931-EA22-F2EA-E147-9DE9EDB09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2499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499C4-9E24-4376-05D3-2219D139E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591" y="1352939"/>
            <a:ext cx="10939278" cy="5139936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Values: 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 in the dataset were identified and removed to ensure data quality.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Type Conversion: 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Numerical variables such as Global Active Power, Voltage, and Global Intensity were converted into numeric format.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Time Index Creation: 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The Date and Time columns were combined to create a datetime index for time-series analysis.</a:t>
            </a:r>
          </a:p>
          <a:p>
            <a:pPr marL="0" indent="0">
              <a:buNone/>
            </a:pPr>
            <a:r>
              <a:rPr lang="en-US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Resampling</a:t>
            </a:r>
          </a:p>
          <a:p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The dataset originally contained minute-level data.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was resampled to hourly intervals to reduce noise and improve model efficiency.</a:t>
            </a:r>
          </a:p>
          <a:p>
            <a:pPr marL="0" indent="0">
              <a:buNone/>
            </a:pPr>
            <a:r>
              <a:rPr lang="en-US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  <a:p>
            <a:pPr marL="0" indent="0">
              <a:buNone/>
            </a:pP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Additional features were created to improve forecasting performance: Hour of day, Day of week, Lag features (previous power values) and Rolling mean (24-hour average)</a:t>
            </a:r>
          </a:p>
          <a:p>
            <a:pPr marL="0" indent="0">
              <a:buNone/>
            </a:pPr>
            <a:endParaRPr lang="en-US" sz="1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703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ABF8F-9CFD-1D1E-B6FB-AB39E9333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6DE84-59F8-D2E1-0E3A-84B414420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4278"/>
            <a:ext cx="10515600" cy="48426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 is an ensemble machine learning algorithm based on decision trees.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builds multiple decision trees and combines their predictions to improve accuracy.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reduces overfitting and improves model stability.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for: predicting electricity consumption using historical features.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XGBoost is a gradient boosting algorithm that builds trees sequentially.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new tree learns from the errors of previous trees.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known for high prediction accuracy and efficiency.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for: improving prediction performance for time-series data.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05213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557F-9681-D27B-7BA2-59865CC62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D8BB1-5F4B-F5E2-689D-4031A6AAB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C1E2A-759A-7061-BC45-AFAEEAF22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4278"/>
            <a:ext cx="10515600" cy="273386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Prophet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Prophet is a time-series forecasting model developed by Facebook.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models trend, seasonality, and holiday effects in time-series data.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particularly useful for data with strong seasonal patterns.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for: forecasting electricity consumption trends.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938743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5C5C3-2414-5239-C9FC-9C3F106E2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093" y="438538"/>
            <a:ext cx="9787814" cy="830425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2C307-E670-3609-77FB-0B7BC5466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5068" y="1630283"/>
            <a:ext cx="10282336" cy="17168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forecasting models were evaluated using the following metrics: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RMSE (Root Mean Square Error)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measures the prediction error magnitude.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 (Mean Absolute Error)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measures the average difference between predicted and actual values.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3FF7C4B-5A92-2982-A386-B522C342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073896"/>
              </p:ext>
            </p:extLst>
          </p:nvPr>
        </p:nvGraphicFramePr>
        <p:xfrm>
          <a:off x="905068" y="3510886"/>
          <a:ext cx="9688287" cy="1478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29429">
                  <a:extLst>
                    <a:ext uri="{9D8B030D-6E8A-4147-A177-3AD203B41FA5}">
                      <a16:colId xmlns:a16="http://schemas.microsoft.com/office/drawing/2014/main" val="3676469369"/>
                    </a:ext>
                  </a:extLst>
                </a:gridCol>
                <a:gridCol w="3229429">
                  <a:extLst>
                    <a:ext uri="{9D8B030D-6E8A-4147-A177-3AD203B41FA5}">
                      <a16:colId xmlns:a16="http://schemas.microsoft.com/office/drawing/2014/main" val="1390193104"/>
                    </a:ext>
                  </a:extLst>
                </a:gridCol>
                <a:gridCol w="3229429">
                  <a:extLst>
                    <a:ext uri="{9D8B030D-6E8A-4147-A177-3AD203B41FA5}">
                      <a16:colId xmlns:a16="http://schemas.microsoft.com/office/drawing/2014/main" val="2552161946"/>
                    </a:ext>
                  </a:extLst>
                </a:gridCol>
              </a:tblGrid>
              <a:tr h="345043">
                <a:tc>
                  <a:txBody>
                    <a:bodyPr/>
                    <a:lstStyle/>
                    <a:p>
                      <a:r>
                        <a:rPr lang="en-IN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943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032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XGBoost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0.0186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432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Prophet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0.479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4512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12722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96D5B6C-5648-77B8-9044-726EB0BEE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5" y="425362"/>
            <a:ext cx="10282335" cy="979714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368F77F-1FEF-BA47-950F-82AACA39C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8376" y="1483568"/>
            <a:ext cx="9543659" cy="1264758"/>
          </a:xfrm>
        </p:spPr>
        <p:txBody>
          <a:bodyPr>
            <a:normAutofit lnSpcReduction="10000"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 achieved the best performance.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XGBoost also performed well.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Prophet captured seasonal trends but produced higher error.</a:t>
            </a:r>
          </a:p>
          <a:p>
            <a:endParaRPr lang="en-US" sz="1600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8CD2781B-EC62-A2B0-53A2-05A36377F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7" y="2836506"/>
            <a:ext cx="8892073" cy="175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0F2A7D0E-1E1F-0B0F-F73E-F1F5B603B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6" y="4669512"/>
            <a:ext cx="8892073" cy="175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302255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35DC4-F847-332E-C4F3-91030FB92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2" cy="973481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577EF-2CE5-1E09-CDE2-808808BAB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38606"/>
            <a:ext cx="11216951" cy="5154269"/>
          </a:xfrm>
        </p:spPr>
        <p:txBody>
          <a:bodyPr numCol="2">
            <a:normAutofit fontScale="32500" lnSpcReduction="20000"/>
          </a:bodyPr>
          <a:lstStyle/>
          <a:p>
            <a:pPr marL="0" indent="0">
              <a:buNone/>
            </a:pP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the results satisfactory?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models successfully captured the </a:t>
            </a: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</a:t>
            </a:r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electricity consumption patterns.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 achieved the lowest error, indicating strong predictive performance.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prediction plots show that the models follow the actual consumption trend closely.</a:t>
            </a:r>
          </a:p>
          <a:p>
            <a:pPr marL="0" indent="0">
              <a:buNone/>
            </a:pP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the performance good for this task?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time-series forecasting, performance is measured using error metrics (RMSE and MAE) rather than percentage accuracy.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low RMSE and MAE values for RandomForest and XGBoost indicate good forecasting accuracy.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Prophet showed higher error but effectively captured seasonal patterns.</a:t>
            </a:r>
          </a:p>
          <a:p>
            <a:pPr marL="0" indent="0">
              <a:buNone/>
            </a:pP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models may struggle with sudden consumption spikes.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 was not extensively applied.</a:t>
            </a:r>
          </a:p>
          <a:p>
            <a:pPr marL="0" indent="0">
              <a:buNone/>
            </a:pPr>
            <a:r>
              <a:rPr lang="en-US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Improvements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improve the model performance: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hyperparameter tuning (</a:t>
            </a:r>
            <a:r>
              <a:rPr lang="en-US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GridSearch</a:t>
            </a:r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en-US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RandomSearch</a:t>
            </a:r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deep learning models such as LSTM or Transformer-based models.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 additional features such as weather data or occupancy information.</a:t>
            </a:r>
          </a:p>
          <a:p>
            <a:r>
              <a:rPr lang="en-US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models on larger or more diverse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37468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F652F-2791-3A9E-7A2B-127F425E6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446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1536B-1F7B-EE15-2818-17A22AC4B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2898"/>
            <a:ext cx="10515600" cy="4684065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RandomForest, XGBoost, and Prophet models to the household electricity consumption dataset.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objective was to predict future electricity consumption using historical time-series data.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were evaluated using RMSE and MAE metrics.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Results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 achieved the best performance with the lowest error values.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XGBoost also produced strong results.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Prophet captured seasonal patterns but showed higher prediction error compared to machine learning models.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hyperparameter tuning to further improve model performance.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with additional models such as: LSTM (Long Short-Term Memory), GRU and Transformer-based time-series models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feature engineering and incorporate additional data sources such as weather or occupancy data.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77487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67BA-D7A0-6BD8-994C-ACB6704C8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14B54-E4C5-1D63-D7ED-669D8245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Adhikari, R. &amp; Agrawal, R., 2013. “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Introductory Study on Time Series Modeling and Forecasting.”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Ahmed, H.A. &amp; Khamees, M., 2025. “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Forecasting Energy Consumption Using Time Series Models: A Comparison of Naïve, ARIMA, and Auto-ARIMA Approaches.”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Proceedings of the International Conference on Applied Innovations in IT.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Cascone, L., Sadiq, S., Ullah, S.,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Mirjalili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S., Siddiqui, H.U.R. &amp; Umer, M., 2023. “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Household Electric Power Consumption Using Multi-step Time Series with Convolutional LSTM.”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Big Data Research.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Syed, D., Abu-Rub, H.,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Ghrayeb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 &amp; Refaat, S., 2021. “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Household-Level Energy Forecasting in Smart Buildings Using a Novel Hybrid Deep Learning Model.”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IEEE Access.</a:t>
            </a:r>
          </a:p>
        </p:txBody>
      </p:sp>
    </p:spTree>
    <p:extLst>
      <p:ext uri="{BB962C8B-B14F-4D97-AF65-F5344CB8AC3E}">
        <p14:creationId xmlns:p14="http://schemas.microsoft.com/office/powerpoint/2010/main" val="12557112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6D8C60"/>
      </a:dk2>
      <a:lt2>
        <a:srgbClr val="B1D7A1"/>
      </a:lt2>
      <a:accent1>
        <a:srgbClr val="81B992"/>
      </a:accent1>
      <a:accent2>
        <a:srgbClr val="9ABC65"/>
      </a:accent2>
      <a:accent3>
        <a:srgbClr val="BDB564"/>
      </a:accent3>
      <a:accent4>
        <a:srgbClr val="BD8964"/>
      </a:accent4>
      <a:accent5>
        <a:srgbClr val="BD6466"/>
      </a:accent5>
      <a:accent6>
        <a:srgbClr val="64A4BD"/>
      </a:accent6>
      <a:hlink>
        <a:srgbClr val="8CCC71"/>
      </a:hlink>
      <a:folHlink>
        <a:srgbClr val="A4C795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4539428D-6454-4FE6-B992-2D59F0AC2F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1990</TotalTime>
  <Words>1518</Words>
  <Application>Microsoft Office PowerPoint</Application>
  <PresentationFormat>Widescreen</PresentationFormat>
  <Paragraphs>163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Bookman Old Style</vt:lpstr>
      <vt:lpstr>Rockwell</vt:lpstr>
      <vt:lpstr>Times New Roman</vt:lpstr>
      <vt:lpstr>Damask</vt:lpstr>
      <vt:lpstr>Demonstration 7PAM2002-0509-Data Science Project 27-03-2026</vt:lpstr>
      <vt:lpstr>Introduction</vt:lpstr>
      <vt:lpstr>PowerPoint Presentation</vt:lpstr>
      <vt:lpstr>Overview if previous work related to the project</vt:lpstr>
      <vt:lpstr>PowerPoint Presentation</vt:lpstr>
      <vt:lpstr>PowerPoint Presentation</vt:lpstr>
      <vt:lpstr>Dataset</vt:lpstr>
      <vt:lpstr>Ethical implications </vt:lpstr>
      <vt:lpstr>Exploratory Data Analysis(EDA)</vt:lpstr>
      <vt:lpstr>Key Observations</vt:lpstr>
      <vt:lpstr>Correlation heatmap</vt:lpstr>
      <vt:lpstr>Pre-processing</vt:lpstr>
      <vt:lpstr>Models Used</vt:lpstr>
      <vt:lpstr>Models Used</vt:lpstr>
      <vt:lpstr>Model result</vt:lpstr>
      <vt:lpstr>Overview</vt:lpstr>
      <vt:lpstr>Analysis</vt:lpstr>
      <vt:lpstr>Summary and 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Mohan Marthala [Student-PECS]</dc:creator>
  <cp:lastModifiedBy>Mohan Marthala [Student-PECS]</cp:lastModifiedBy>
  <cp:revision>33</cp:revision>
  <dcterms:created xsi:type="dcterms:W3CDTF">2025-11-12T13:13:26Z</dcterms:created>
  <dcterms:modified xsi:type="dcterms:W3CDTF">2026-03-24T21:09:01Z</dcterms:modified>
</cp:coreProperties>
</file>